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20040"/>
            <a:ext cx="2011680" cy="2011680"/>
          </a:xfrm>
          <a:prstGeom prst="ellipse">
            <a:avLst/>
          </a:prstGeom>
          <a:solidFill>
            <a:srgbClr val="37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5394960"/>
            <a:ext cx="1645920" cy="1645920"/>
          </a:xfrm>
          <a:prstGeom prst="ellipse">
            <a:avLst/>
          </a:prstGeom>
          <a:solidFill>
            <a:srgbClr val="FFC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777240"/>
            <a:ext cx="1051560" cy="384048"/>
          </a:xfrm>
          <a:prstGeom prst="roundRect">
            <a:avLst/>
          </a:prstGeom>
          <a:solidFill>
            <a:srgbClr val="2A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850392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BBA • MARKETING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749807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12234C"/>
                </a:solidFill>
                <a:latin typeface="Aptos"/>
              </a:rPr>
              <a:t>ADVERTISEMENT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060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0">
                <a:solidFill>
                  <a:srgbClr val="2A6EDC"/>
                </a:solidFill>
                <a:latin typeface="Aptos"/>
              </a:rPr>
              <a:t>Connecting brands with people.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828800"/>
            <a:ext cx="2194560" cy="1234440"/>
          </a:xfrm>
          <a:prstGeom prst="roundRect">
            <a:avLst/>
          </a:prstGeom>
          <a:solidFill>
            <a:srgbClr val="F46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26679" y="2148840"/>
            <a:ext cx="868680" cy="868680"/>
          </a:xfrm>
          <a:prstGeom prst="ellipse">
            <a:avLst/>
          </a:prstGeom>
          <a:solidFill>
            <a:srgbClr val="FFC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32520" y="1975104"/>
            <a:ext cx="1280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0">
                <a:solidFill>
                  <a:srgbClr val="FFFFFF"/>
                </a:solidFill>
                <a:latin typeface="Aptos"/>
              </a:rPr>
              <a:t>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166360"/>
            <a:ext cx="74980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697382"/>
                </a:solidFill>
                <a:latin typeface="Aptos"/>
              </a:rPr>
              <a:t>A simple introduction to the role, process &amp; impact of advertising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2234C"/>
                </a:solidFill>
                <a:latin typeface="Aptos"/>
              </a:rPr>
              <a:t>01  What is Advertising?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344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232A37"/>
                </a:solidFill>
                <a:latin typeface="Aptos"/>
              </a:rPr>
              <a:t>A paid form of communication used to inform, persuade or remind a target audience about a product, service or idea.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95360" y="1234440"/>
            <a:ext cx="2286000" cy="1828800"/>
          </a:xfrm>
          <a:prstGeom prst="roundRect">
            <a:avLst/>
          </a:prstGeom>
          <a:solidFill>
            <a:srgbClr val="2A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06840" y="1572768"/>
            <a:ext cx="658368" cy="658368"/>
          </a:xfrm>
          <a:prstGeom prst="ellipse">
            <a:avLst/>
          </a:prstGeom>
          <a:solidFill>
            <a:srgbClr val="FFC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0" y="1627632"/>
            <a:ext cx="731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79408" y="233172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TARGET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71800"/>
            <a:ext cx="333756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3246120"/>
            <a:ext cx="502920" cy="502920"/>
          </a:xfrm>
          <a:prstGeom prst="ellipse">
            <a:avLst/>
          </a:prstGeom>
          <a:solidFill>
            <a:srgbClr val="37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320040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2234C"/>
                </a:solidFill>
                <a:latin typeface="Aptos"/>
              </a:rPr>
              <a:t>INFORM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86200"/>
            <a:ext cx="28346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97382"/>
                </a:solidFill>
                <a:latin typeface="Aptos"/>
              </a:rPr>
              <a:t>Introduce a product</a:t>
            </a:r>
            <a:br/>
            <a:r>
              <a:t>or create awareness.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971800"/>
            <a:ext cx="333756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3440" y="3246120"/>
            <a:ext cx="502920" cy="502920"/>
          </a:xfrm>
          <a:prstGeom prst="ellipse">
            <a:avLst/>
          </a:prstGeom>
          <a:solidFill>
            <a:srgbClr val="F46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320040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2234C"/>
                </a:solidFill>
                <a:latin typeface="Aptos"/>
              </a:rPr>
              <a:t>PERSUADE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886200"/>
            <a:ext cx="28346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97382"/>
                </a:solidFill>
                <a:latin typeface="Aptos"/>
              </a:rPr>
              <a:t>Influence interest,</a:t>
            </a:r>
            <a:br/>
            <a:r>
              <a:t>preference or action.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971800"/>
            <a:ext cx="333756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66760" y="3246120"/>
            <a:ext cx="502920" cy="502920"/>
          </a:xfrm>
          <a:prstGeom prst="ellipse">
            <a:avLst/>
          </a:prstGeom>
          <a:solidFill>
            <a:srgbClr val="FFC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320040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2234C"/>
                </a:solidFill>
                <a:latin typeface="Aptos"/>
              </a:rPr>
              <a:t>REMIND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886200"/>
            <a:ext cx="28346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97382"/>
                </a:solidFill>
                <a:latin typeface="Aptos"/>
              </a:rPr>
              <a:t>Keep a brand</a:t>
            </a:r>
            <a:br/>
            <a:r>
              <a:t>in the audience's mind.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2234C"/>
                </a:solidFill>
                <a:latin typeface="Aptos"/>
              </a:rPr>
              <a:t>02  How Advertising Works</a:t>
            </a:r>
          </a:p>
        </p:txBody>
      </p:sp>
      <p:sp>
        <p:nvSpPr>
          <p:cNvPr id="4" name="Oval 3"/>
          <p:cNvSpPr/>
          <p:nvPr/>
        </p:nvSpPr>
        <p:spPr>
          <a:xfrm>
            <a:off x="1554480" y="1417320"/>
            <a:ext cx="731520" cy="731520"/>
          </a:xfrm>
          <a:prstGeom prst="ellipse">
            <a:avLst/>
          </a:prstGeom>
          <a:solidFill>
            <a:srgbClr val="2A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64208" y="15361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2234C"/>
                </a:solidFill>
                <a:latin typeface="Aptos"/>
              </a:rPr>
              <a:t>Audience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2103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697382"/>
                </a:solidFill>
                <a:latin typeface="Aptos"/>
              </a:rPr>
              <a:t>Who are we</a:t>
            </a:r>
            <a:br/>
            <a:r>
              <a:t>speaking to?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157276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697382"/>
                </a:solidFill>
                <a:latin typeface="Aptos"/>
              </a:rP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4343400" y="1417320"/>
            <a:ext cx="731520" cy="731520"/>
          </a:xfrm>
          <a:prstGeom prst="ellipse">
            <a:avLst/>
          </a:prstGeom>
          <a:solidFill>
            <a:srgbClr val="80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3127" y="15361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3774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2234C"/>
                </a:solidFill>
                <a:latin typeface="Aptos"/>
              </a:rPr>
              <a:t>Message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926080"/>
            <a:ext cx="2103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697382"/>
                </a:solidFill>
                <a:latin typeface="Aptos"/>
              </a:rPr>
              <a:t>What should</a:t>
            </a:r>
            <a:br/>
            <a:r>
              <a:t>they remember?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4727" y="157276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697382"/>
                </a:solidFill>
                <a:latin typeface="Aptos"/>
              </a:rP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0" y="1417320"/>
            <a:ext cx="731520" cy="731520"/>
          </a:xfrm>
          <a:prstGeom prst="ellipse">
            <a:avLst/>
          </a:prstGeom>
          <a:solidFill>
            <a:srgbClr val="37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42048" y="15361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3774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2234C"/>
                </a:solidFill>
                <a:latin typeface="Aptos"/>
              </a:rPr>
              <a:t>Media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926080"/>
            <a:ext cx="2103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697382"/>
                </a:solidFill>
                <a:latin typeface="Aptos"/>
              </a:rPr>
              <a:t>Where will</a:t>
            </a:r>
            <a:br/>
            <a:r>
              <a:t>they see it?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13648" y="157276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697382"/>
                </a:solidFill>
                <a:latin typeface="Aptos"/>
              </a:rPr>
              <a:t>→</a:t>
            </a:r>
          </a:p>
        </p:txBody>
      </p:sp>
      <p:sp>
        <p:nvSpPr>
          <p:cNvPr id="19" name="Oval 18"/>
          <p:cNvSpPr/>
          <p:nvPr/>
        </p:nvSpPr>
        <p:spPr>
          <a:xfrm>
            <a:off x="9921240" y="1417320"/>
            <a:ext cx="731520" cy="731520"/>
          </a:xfrm>
          <a:prstGeom prst="ellipse">
            <a:avLst/>
          </a:prstGeom>
          <a:solidFill>
            <a:srgbClr val="F46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30967" y="15361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59" y="23774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2234C"/>
                </a:solidFill>
                <a:latin typeface="Aptos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59" y="2926080"/>
            <a:ext cx="2103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697382"/>
                </a:solidFill>
                <a:latin typeface="Aptos"/>
              </a:rPr>
              <a:t>What should</a:t>
            </a:r>
            <a:br/>
            <a:r>
              <a:t>they do?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617720"/>
            <a:ext cx="10332720" cy="96012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487375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A6EDC"/>
                </a:solidFill>
                <a:latin typeface="Aptos"/>
              </a:rPr>
              <a:t>BBA takeaway: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828032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232A37"/>
                </a:solidFill>
                <a:latin typeface="Aptos"/>
              </a:rPr>
              <a:t>Effective advertising connects the right message to the right audience through the right channel.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2234C"/>
                </a:solidFill>
                <a:latin typeface="Aptos"/>
              </a:rPr>
              <a:t>03  Major Advertising Media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493776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" y="1764792"/>
            <a:ext cx="777240" cy="777240"/>
          </a:xfrm>
          <a:prstGeom prst="ellipse">
            <a:avLst/>
          </a:prstGeom>
          <a:solidFill>
            <a:srgbClr val="2A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57400" y="170992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2234C"/>
                </a:solidFill>
                <a:latin typeface="Aptos"/>
              </a:rPr>
              <a:t>TV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2167128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97382"/>
                </a:solidFill>
                <a:latin typeface="Aptos"/>
              </a:rPr>
              <a:t>Mass reach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417320"/>
            <a:ext cx="493776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79" y="1764792"/>
            <a:ext cx="777240" cy="777240"/>
          </a:xfrm>
          <a:prstGeom prst="ellipse">
            <a:avLst/>
          </a:prstGeom>
          <a:solidFill>
            <a:srgbClr val="FFC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19" y="170992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2234C"/>
                </a:solidFill>
                <a:latin typeface="Aptos"/>
              </a:rPr>
              <a:t>PRINT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19" y="2167128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97382"/>
                </a:solidFill>
                <a:latin typeface="Aptos"/>
              </a:rPr>
              <a:t>Newspapers • Magazines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83280"/>
            <a:ext cx="493776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1560" y="3730752"/>
            <a:ext cx="777240" cy="777240"/>
          </a:xfrm>
          <a:prstGeom prst="ellipse">
            <a:avLst/>
          </a:prstGeom>
          <a:solidFill>
            <a:srgbClr val="37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57400" y="367588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2234C"/>
                </a:solidFill>
                <a:latin typeface="Aptos"/>
              </a:rPr>
              <a:t>DIGITAL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4133088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97382"/>
                </a:solidFill>
                <a:latin typeface="Aptos"/>
              </a:rPr>
              <a:t>Social • Search • Video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3383280"/>
            <a:ext cx="493776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83679" y="3730752"/>
            <a:ext cx="777240" cy="777240"/>
          </a:xfrm>
          <a:prstGeom prst="ellipse">
            <a:avLst/>
          </a:prstGeom>
          <a:solidFill>
            <a:srgbClr val="F46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19" y="367588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2234C"/>
                </a:solidFill>
                <a:latin typeface="Aptos"/>
              </a:rPr>
              <a:t>OUTDOOR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19" y="4133088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97382"/>
                </a:solidFill>
                <a:latin typeface="Aptos"/>
              </a:rPr>
              <a:t>Billboards • Transit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62356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697382"/>
                </a:solidFill>
                <a:latin typeface="Aptos"/>
              </a:rPr>
              <a:t>Modern campaigns often combine multiple channels.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5394960"/>
            <a:ext cx="438912" cy="548640"/>
          </a:xfrm>
          <a:prstGeom prst="roundRect">
            <a:avLst/>
          </a:prstGeom>
          <a:solidFill>
            <a:srgbClr val="2A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15400" y="5257800"/>
            <a:ext cx="438912" cy="685800"/>
          </a:xfrm>
          <a:prstGeom prst="roundRect">
            <a:avLst/>
          </a:prstGeom>
          <a:solidFill>
            <a:srgbClr val="37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509760" y="5120640"/>
            <a:ext cx="438912" cy="822959"/>
          </a:xfrm>
          <a:prstGeom prst="roundRect">
            <a:avLst/>
          </a:prstGeom>
          <a:solidFill>
            <a:srgbClr val="F46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104120" y="4983480"/>
            <a:ext cx="438912" cy="960119"/>
          </a:xfrm>
          <a:prstGeom prst="roundRect">
            <a:avLst/>
          </a:prstGeom>
          <a:solidFill>
            <a:srgbClr val="80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365760"/>
            <a:ext cx="2103120" cy="2103120"/>
          </a:xfrm>
          <a:prstGeom prst="ellipse">
            <a:avLst/>
          </a:prstGeom>
          <a:solidFill>
            <a:srgbClr val="F46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20040" y="5577840"/>
            <a:ext cx="1645920" cy="1645920"/>
          </a:xfrm>
          <a:prstGeom prst="ellipse">
            <a:avLst/>
          </a:prstGeom>
          <a:solidFill>
            <a:srgbClr val="37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943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04  Why Advertising Matters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417320"/>
            <a:ext cx="594360" cy="594360"/>
          </a:xfrm>
          <a:prstGeom prst="ellipse">
            <a:avLst/>
          </a:prstGeom>
          <a:solidFill>
            <a:srgbClr val="2A6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563624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39903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Builds awareness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1399032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D7DEEB"/>
                </a:solidFill>
                <a:latin typeface="Aptos"/>
              </a:rPr>
              <a:t>Makes audiences familiar with brands and offerings.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532888"/>
            <a:ext cx="594360" cy="594360"/>
          </a:xfrm>
          <a:prstGeom prst="ellipse">
            <a:avLst/>
          </a:prstGeom>
          <a:solidFill>
            <a:srgbClr val="37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67919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5146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Supports sales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51460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D7DEEB"/>
                </a:solidFill>
                <a:latin typeface="Aptos"/>
              </a:rPr>
              <a:t>Creates interest and can encourage purchase decisions.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648456"/>
            <a:ext cx="594360" cy="594360"/>
          </a:xfrm>
          <a:prstGeom prst="ellipse">
            <a:avLst/>
          </a:prstGeom>
          <a:solidFill>
            <a:srgbClr val="F46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379476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630168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Shapes brand 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3630168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D7DEEB"/>
                </a:solidFill>
                <a:latin typeface="Aptos"/>
              </a:rPr>
              <a:t>Uses visuals, words and experiences to communicate meaning.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764024"/>
            <a:ext cx="594360" cy="594360"/>
          </a:xfrm>
          <a:prstGeom prst="ellipse">
            <a:avLst/>
          </a:prstGeom>
          <a:solidFill>
            <a:srgbClr val="FFC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491032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745736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Creates competition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4745736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D7DEEB"/>
                </a:solidFill>
                <a:latin typeface="Aptos"/>
              </a:rPr>
              <a:t>Gives businesses a way to differentiate and communicate value.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715000"/>
            <a:ext cx="106984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5833872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12234C"/>
                </a:solidFill>
                <a:latin typeface="Aptos"/>
              </a:rPr>
              <a:t>Thank you  •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