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9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92D50"/>
                </a:solidFill>
                <a:latin typeface="Aptos"/>
              </a:rPr>
              <a:t>HUMAN RESOURCES
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6473"/>
                </a:solidFill>
                <a:latin typeface="Aptos"/>
              </a:rPr>
              <a:t>Managing people to achieve organisational goals</a:t>
            </a:r>
          </a:p>
        </p:txBody>
      </p:sp>
      <p:sp>
        <p:nvSpPr>
          <p:cNvPr id="6" name="Oval 5"/>
          <p:cNvSpPr/>
          <p:nvPr/>
        </p:nvSpPr>
        <p:spPr>
          <a:xfrm>
            <a:off x="8412480" y="1828800"/>
            <a:ext cx="594360" cy="594360"/>
          </a:xfrm>
          <a:prstGeom prst="ellipse">
            <a:avLst/>
          </a:prstGeom>
          <a:solidFill>
            <a:srgbClr val="39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02752" y="2395728"/>
            <a:ext cx="822960" cy="1143000"/>
          </a:xfrm>
          <a:prstGeom prst="roundRect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72600" y="1417320"/>
            <a:ext cx="594360" cy="594360"/>
          </a:xfrm>
          <a:prstGeom prst="ellipse">
            <a:avLst/>
          </a:prstGeom>
          <a:solidFill>
            <a:srgbClr val="4CA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62872" y="1984248"/>
            <a:ext cx="822960" cy="1143000"/>
          </a:xfrm>
          <a:prstGeom prst="roundRect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720" y="1828800"/>
            <a:ext cx="594360" cy="594360"/>
          </a:xfrm>
          <a:prstGeom prst="ellipse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22992" y="2395728"/>
            <a:ext cx="822960" cy="1143000"/>
          </a:xfrm>
          <a:prstGeom prst="roundRect">
            <a:avLst/>
          </a:prstGeom>
          <a:solidFill>
            <a:srgbClr val="E1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970BE"/>
                </a:solidFill>
                <a:latin typeface="Aptos"/>
              </a:rPr>
              <a:t>BBA •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595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73"/>
                </a:solidFill>
                <a:latin typeface="Aptos"/>
              </a:rPr>
              <a:t>Introduction to HRM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46520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3"/>
                </a:solidFill>
                <a:latin typeface="Aptos"/>
              </a:rPr>
              <a:t>Human Resources Management • BBA Semester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  <p:transition spd="med" advClick="0" advTm="55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D50"/>
                </a:solidFill>
                <a:latin typeface="Aptos"/>
              </a:rPr>
              <a:t>1. What is Human Resources Management?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473"/>
                </a:solidFill>
                <a:latin typeface="Aptos"/>
              </a:rPr>
              <a:t>HRM is the process of managing people at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1874519"/>
          </a:xfrm>
          <a:prstGeom prst="roundRect">
            <a:avLst/>
          </a:prstGeom>
          <a:solidFill>
            <a:srgbClr val="F0F5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39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3372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28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50"/>
                </a:solidFill>
                <a:latin typeface="Aptos"/>
              </a:rPr>
              <a:t>Simple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466344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Human Resources Management (HRM) involves attracting, developing, motivating and retaining employees so that both employees and the organisation can achieve their goals.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303520" cy="1874519"/>
          </a:xfrm>
          <a:prstGeom prst="roundRect">
            <a:avLst/>
          </a:prstGeom>
          <a:solidFill>
            <a:srgbClr val="F0F5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4CA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33372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50"/>
                </a:solidFill>
                <a:latin typeface="Aptos"/>
              </a:rPr>
              <a:t>Main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50008"/>
            <a:ext cx="475488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To place the right person in the right job, develop employee abilities and create a productive and healthy work environment.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D50"/>
                </a:solidFill>
                <a:latin typeface="Aptos"/>
              </a:rPr>
              <a:t>Why HR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970BE"/>
                </a:solidFill>
                <a:latin typeface="Aptos"/>
              </a:rPr>
              <a:t>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52628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Employees are a key organisational resource.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932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970BE"/>
                </a:solidFill>
                <a:latin typeface="Aptos"/>
              </a:rP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509320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Good HR practices can improve productivity.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60136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970BE"/>
                </a:solidFill>
                <a:latin typeface="Aptos"/>
              </a:rPr>
              <a:t>Work culture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5660136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HR helps build fair and supportive workplaces.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46520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3"/>
                </a:solidFill>
                <a:latin typeface="Aptos"/>
              </a:rPr>
              <a:t>Human Resources Management • BBA Semester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ransition spd="med" advClick="0" advTm="55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D50"/>
                </a:solidFill>
                <a:latin typeface="Aptos"/>
              </a:rPr>
              <a:t>2. Major Functions of HRM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473"/>
                </a:solidFill>
                <a:latin typeface="Aptos"/>
              </a:rPr>
              <a:t>HR activities cover the employee life 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29000" cy="1691640"/>
          </a:xfrm>
          <a:prstGeom prst="roundRect">
            <a:avLst/>
          </a:prstGeom>
          <a:solidFill>
            <a:srgbClr val="F0F5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39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7652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50"/>
                </a:solidFill>
                <a:latin typeface="Aptos"/>
              </a:rPr>
              <a:t>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Estimating future employee needs.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429000" cy="1691640"/>
          </a:xfrm>
          <a:prstGeom prst="roundRect">
            <a:avLst/>
          </a:prstGeom>
          <a:solidFill>
            <a:srgbClr val="F0F5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1783080"/>
            <a:ext cx="502920" cy="502920"/>
          </a:xfrm>
          <a:prstGeom prst="ellipse">
            <a:avLst/>
          </a:prstGeom>
          <a:solidFill>
            <a:srgbClr val="4CA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87652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78308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50"/>
                </a:solidFill>
                <a:latin typeface="Aptos"/>
              </a:rPr>
              <a:t>Recruitment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0428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Finding and attracting suitable candidates.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3429000" cy="1691640"/>
          </a:xfrm>
          <a:prstGeom prst="roundRect">
            <a:avLst/>
          </a:prstGeom>
          <a:solidFill>
            <a:srgbClr val="F0F5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58200" y="1783080"/>
            <a:ext cx="502920" cy="502920"/>
          </a:xfrm>
          <a:prstGeom prst="ellipse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787652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8308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50"/>
                </a:solidFill>
                <a:latin typeface="Aptos"/>
              </a:rPr>
              <a:t>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0428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Choosing the most suitable applicant.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11880"/>
            <a:ext cx="3429000" cy="1691640"/>
          </a:xfrm>
          <a:prstGeom prst="roundRect">
            <a:avLst/>
          </a:prstGeom>
          <a:solidFill>
            <a:srgbClr val="F0F5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840480"/>
            <a:ext cx="502920" cy="502920"/>
          </a:xfrm>
          <a:prstGeom prst="ellipse">
            <a:avLst/>
          </a:prstGeom>
          <a:solidFill>
            <a:srgbClr val="39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845052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84048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50"/>
                </a:solidFill>
                <a:latin typeface="Aptos"/>
              </a:rPr>
              <a:t>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6168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Developing knowledge and skills.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611880"/>
            <a:ext cx="3429000" cy="1691640"/>
          </a:xfrm>
          <a:prstGeom prst="roundRect">
            <a:avLst/>
          </a:prstGeom>
          <a:solidFill>
            <a:srgbClr val="F0F5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63440" y="3840480"/>
            <a:ext cx="502920" cy="502920"/>
          </a:xfrm>
          <a:prstGeom prst="ellipse">
            <a:avLst/>
          </a:prstGeom>
          <a:solidFill>
            <a:srgbClr val="4CA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845052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84048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50"/>
                </a:solidFill>
                <a:latin typeface="Aptos"/>
              </a:rPr>
              <a:t>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36168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Evaluating and improving employee 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611880"/>
            <a:ext cx="3429000" cy="1691640"/>
          </a:xfrm>
          <a:prstGeom prst="roundRect">
            <a:avLst/>
          </a:prstGeom>
          <a:solidFill>
            <a:srgbClr val="F0F5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58200" y="3840480"/>
            <a:ext cx="502920" cy="502920"/>
          </a:xfrm>
          <a:prstGeom prst="ellipse">
            <a:avLst/>
          </a:prstGeom>
          <a:solidFill>
            <a:srgbClr val="19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845052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84048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50"/>
                </a:solidFill>
                <a:latin typeface="Aptos"/>
              </a:rPr>
              <a:t>Compensation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361688"/>
            <a:ext cx="2880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Managing salary, incentives and benefits.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46520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3"/>
                </a:solidFill>
                <a:latin typeface="Aptos"/>
              </a:rPr>
              <a:t>Human Resources Management • BBA Semester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ransition spd="med" advClick="0" advTm="55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D50"/>
                </a:solidFill>
                <a:latin typeface="Aptos"/>
              </a:rPr>
              <a:t>3. Recruitment, Training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473"/>
                </a:solidFill>
                <a:latin typeface="Aptos"/>
              </a:rPr>
              <a:t>Three connected HR activities help employees succeed.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971800" cy="2011680"/>
          </a:xfrm>
          <a:prstGeom prst="roundRect">
            <a:avLst/>
          </a:prstGeom>
          <a:solidFill>
            <a:srgbClr val="F0F5FC"/>
          </a:solidFill>
          <a:ln>
            <a:solidFill>
              <a:srgbClr val="39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84831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970BE"/>
                </a:solidFill>
                <a:latin typeface="Aptos"/>
              </a:rPr>
              <a:t>RECRUIT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32830"/>
                </a:solidFill>
                <a:latin typeface="Aptos"/>
              </a:rPr>
              <a:t>Attract suitable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911" y="248716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5A6473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2971800" cy="2011680"/>
          </a:xfrm>
          <a:prstGeom prst="roundRect">
            <a:avLst/>
          </a:prstGeom>
          <a:solidFill>
            <a:srgbClr val="F0F5FC"/>
          </a:solidFill>
          <a:ln>
            <a:solidFill>
              <a:srgbClr val="4CA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84831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CAA91"/>
                </a:solidFill>
                <a:latin typeface="Aptos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74320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32830"/>
                </a:solidFill>
                <a:latin typeface="Aptos"/>
              </a:rPr>
              <a:t>Build skills &amp;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1" y="248716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5A64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828800"/>
            <a:ext cx="2971800" cy="2011680"/>
          </a:xfrm>
          <a:prstGeom prst="roundRect">
            <a:avLst/>
          </a:prstGeom>
          <a:solidFill>
            <a:srgbClr val="F0F5FC"/>
          </a:solidFill>
          <a:ln>
            <a:solidFill>
              <a:srgbClr val="19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084831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D50"/>
                </a:solidFill>
                <a:latin typeface="Aptos"/>
              </a:rPr>
              <a:t>PERFORM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43200"/>
            <a:ext cx="2331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32830"/>
                </a:solidFill>
                <a:latin typeface="Aptos"/>
              </a:rPr>
              <a:t>Measure &amp; improve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50"/>
                </a:solidFill>
                <a:latin typeface="Aptos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270248"/>
            <a:ext cx="9326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830"/>
                </a:solidFill>
                <a:latin typeface="Aptos"/>
              </a:rPr>
              <a:t>A company may recruit a new sales executive → provide product and communication training → review sales performance and give feedback.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46520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3"/>
                </a:solidFill>
                <a:latin typeface="Aptos"/>
              </a:rPr>
              <a:t>Human Resources Management • BBA Semester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  <p:transition spd="med" advClick="0" advTm="55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D50"/>
                </a:solidFill>
                <a:latin typeface="Aptos"/>
              </a:rPr>
              <a:t>4. Compensation, Motivation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5A6473"/>
                </a:solidFill>
                <a:latin typeface="Aptos"/>
              </a:rPr>
              <a:t>HRM connects employee needs with organisational objectives.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303520" cy="1874519"/>
          </a:xfrm>
          <a:prstGeom prst="roundRect">
            <a:avLst/>
          </a:prstGeom>
          <a:solidFill>
            <a:srgbClr val="F0F5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rgbClr val="39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7652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8308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50"/>
                </a:solidFill>
                <a:latin typeface="Aptos"/>
              </a:rPr>
              <a:t>Compensation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04288"/>
            <a:ext cx="475488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Employees may receive basic salary, incentives, bonuses and other benefits. Fair compensation can support motivation and retention.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5303520" cy="1600200"/>
          </a:xfrm>
          <a:prstGeom prst="roundRect">
            <a:avLst/>
          </a:prstGeom>
          <a:solidFill>
            <a:srgbClr val="F0F5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931920"/>
            <a:ext cx="502920" cy="502920"/>
          </a:xfrm>
          <a:prstGeom prst="ellipse">
            <a:avLst/>
          </a:prstGeom>
          <a:solidFill>
            <a:srgbClr val="4CA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6491"/>
            <a:ext cx="502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3192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50"/>
                </a:solidFill>
                <a:latin typeface="Aptos"/>
              </a:rPr>
              <a:t>Employee 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53128"/>
            <a:ext cx="4754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830"/>
                </a:solidFill>
                <a:latin typeface="Aptos"/>
              </a:rPr>
              <a:t>Recognition, growth opportunities, job security and a positive work environment also influence motivation.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5166360" cy="3749039"/>
          </a:xfrm>
          <a:prstGeom prst="roundRect">
            <a:avLst/>
          </a:prstGeom>
          <a:solidFill>
            <a:srgbClr val="E1EDF9"/>
          </a:solidFill>
          <a:ln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874519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2D50"/>
                </a:solidFill>
                <a:latin typeface="Aptos"/>
              </a:rPr>
              <a:t>Key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514600"/>
            <a:ext cx="448056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830"/>
                </a:solidFill>
                <a:latin typeface="Aptos"/>
              </a:rPr>
              <a:t>HRM is not only about hiring people.
It is about managing the complete employee journey — from recruitment and training to performance, compensation and retention.
Effective HRM helps align people and organisational goals.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650992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970BE"/>
                </a:solidFill>
                <a:latin typeface="Aptos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46520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6473"/>
                </a:solidFill>
                <a:latin typeface="Aptos"/>
              </a:rPr>
              <a:t>Human Resources Management • BBA Semester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2823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4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  <p:transition spd="med" advClick="0" advTm="5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