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6492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EVENT MANAGEMENT</a:t>
            </a:r>
          </a:p>
          <a:p>
            <a:pPr>
              <a:defRPr sz="2200">
                <a:solidFill>
                  <a:srgbClr val="BED2F5"/>
                </a:solidFill>
              </a:defRPr>
            </a:pPr>
            <a:r>
              <a:t>BBA – 1st Semester</a:t>
            </a:r>
          </a:p>
          <a:p>
            <a:pPr>
              <a:defRPr sz="1700">
                <a:solidFill>
                  <a:srgbClr val="DCE1EB"/>
                </a:solidFill>
              </a:defRPr>
            </a:pPr>
            <a:r>
              <a:t>Planning • Organizing • Executing • Evaluating</a:t>
            </a:r>
          </a:p>
        </p:txBody>
      </p:sp>
      <p:pic>
        <p:nvPicPr>
          <p:cNvPr id="4" name="Picture 3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777240"/>
            <a:ext cx="41605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1/5</a:t>
            </a:r>
          </a:p>
        </p:txBody>
      </p:sp>
    </p:spTree>
  </p:cSld>
  <p:clrMapOvr>
    <a:masterClrMapping/>
  </p:clrMapOvr>
  <p:transition advClick="0" advTm="6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6766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56"/>
                </a:solidFill>
              </a:defRPr>
            </a:pPr>
            <a:r>
              <a:t>What is Event Management?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46E"/>
                </a:solidFill>
              </a:defRPr>
            </a:pPr>
            <a:r>
              <a:t>Meaning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62B34"/>
                </a:solidFill>
              </a:defRPr>
            </a:pPr>
            <a:r>
              <a:t>• Event management is the process of planning, organizing and controlling an event.</a:t>
            </a:r>
          </a:p>
          <a:p>
            <a:pPr>
              <a:spcAft>
                <a:spcPts val="1300"/>
              </a:spcAft>
              <a:defRPr sz="1800">
                <a:solidFill>
                  <a:srgbClr val="262B34"/>
                </a:solidFill>
              </a:defRPr>
            </a:pPr>
            <a:r>
              <a:t>• It includes selecting the venue, managing people, budget, logistics and promotion.</a:t>
            </a:r>
          </a:p>
          <a:p>
            <a:pPr>
              <a:spcAft>
                <a:spcPts val="1300"/>
              </a:spcAft>
              <a:defRPr sz="1800">
                <a:solidFill>
                  <a:srgbClr val="262B34"/>
                </a:solidFill>
              </a:defRPr>
            </a:pPr>
            <a:r>
              <a:t>• The main aim is to achieve the event’s purpose within the available time and resources.</a:t>
            </a:r>
          </a:p>
          <a:p>
            <a:pPr>
              <a:spcAft>
                <a:spcPts val="1300"/>
              </a:spcAft>
              <a:defRPr sz="1800">
                <a:solidFill>
                  <a:srgbClr val="262B34"/>
                </a:solidFill>
              </a:defRPr>
            </a:pPr>
            <a:r>
              <a:t>• Examples: seminars, conferences, college fests, exhibitions, weddings and product launches.</a:t>
            </a:r>
          </a:p>
        </p:txBody>
      </p:sp>
      <p:pic>
        <p:nvPicPr>
          <p:cNvPr id="6" name="Picture 5" descr="plann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25880"/>
            <a:ext cx="461772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2/5</a:t>
            </a:r>
          </a:p>
        </p:txBody>
      </p:sp>
    </p:spTree>
  </p:cSld>
  <p:clrMapOvr>
    <a:masterClrMapping/>
  </p:clrMapOvr>
  <p:transition advClick="0" advTm="6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6766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56"/>
                </a:solidFill>
              </a:defRPr>
            </a:pPr>
            <a:r>
              <a:t>Types of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46E"/>
                </a:solidFill>
              </a:defRPr>
            </a:pPr>
            <a:r>
              <a:t>Common categories in business and society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572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05BA5"/>
                </a:solidFill>
              </a:defRPr>
            </a:pPr>
            <a:r>
              <a:t>Corporate</a:t>
            </a:r>
          </a:p>
          <a:p>
            <a:pPr>
              <a:defRPr sz="1500">
                <a:solidFill>
                  <a:srgbClr val="262B34"/>
                </a:solidFill>
              </a:defRPr>
            </a:pPr>
            <a:r>
              <a:t>Meetings, conferences, product launches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572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05BA5"/>
                </a:solidFill>
              </a:defRPr>
            </a:pPr>
            <a:r>
              <a:t>Social</a:t>
            </a:r>
          </a:p>
          <a:p>
            <a:pPr>
              <a:defRPr sz="1500">
                <a:solidFill>
                  <a:srgbClr val="262B34"/>
                </a:solidFill>
              </a:defRPr>
            </a:pPr>
            <a:r>
              <a:t>Weddings, birthdays, celebrations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661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49040"/>
            <a:ext cx="4572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05BA5"/>
                </a:solidFill>
              </a:defRPr>
            </a:pPr>
            <a:r>
              <a:t>Academic</a:t>
            </a:r>
          </a:p>
          <a:p>
            <a:pPr>
              <a:defRPr sz="1500">
                <a:solidFill>
                  <a:srgbClr val="262B34"/>
                </a:solidFill>
              </a:defRPr>
            </a:pPr>
            <a:r>
              <a:t>Seminars, workshops, college fests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5661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749040"/>
            <a:ext cx="4572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05BA5"/>
                </a:solidFill>
              </a:defRPr>
            </a:pPr>
            <a:r>
              <a:t>Cultural</a:t>
            </a:r>
          </a:p>
          <a:p>
            <a:pPr>
              <a:defRPr sz="1500">
                <a:solidFill>
                  <a:srgbClr val="262B34"/>
                </a:solidFill>
              </a:defRPr>
            </a:pPr>
            <a:r>
              <a:t>Festivals, concerts, exhibitions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3/5</a:t>
            </a:r>
          </a:p>
        </p:txBody>
      </p:sp>
    </p:spTree>
  </p:cSld>
  <p:clrMapOvr>
    <a:masterClrMapping/>
  </p:clrMapOvr>
  <p:transition advClick="0" advTm="6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6766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56"/>
                </a:solidFill>
              </a:defRPr>
            </a:pPr>
            <a:r>
              <a:t>Event Management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46E"/>
                </a:solidFill>
              </a:defRPr>
            </a:pPr>
            <a:r>
              <a:t>A simple four-stage cycle</a:t>
            </a:r>
          </a:p>
        </p:txBody>
      </p:sp>
      <p:pic>
        <p:nvPicPr>
          <p:cNvPr id="5" name="Picture 4" descr="proc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7442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571500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2A56"/>
                </a:solidFill>
              </a:defRPr>
            </a:pPr>
            <a:r>
              <a:t>Planning → Organizing → Execution →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4/5</a:t>
            </a:r>
          </a:p>
        </p:txBody>
      </p:sp>
    </p:spTree>
  </p:cSld>
  <p:clrMapOvr>
    <a:masterClrMapping/>
  </p:clrMapOvr>
  <p:transition advClick="0" advTm="6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6217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Importance of Event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62B34"/>
                </a:solidFill>
              </a:defRPr>
            </a:pPr>
            <a:r>
              <a:t>• Creates a smooth experience for participants.</a:t>
            </a:r>
          </a:p>
          <a:p>
            <a:pPr>
              <a:spcAft>
                <a:spcPts val="1300"/>
              </a:spcAft>
              <a:defRPr sz="1700">
                <a:solidFill>
                  <a:srgbClr val="262B34"/>
                </a:solidFill>
              </a:defRPr>
            </a:pPr>
            <a:r>
              <a:t>• Helps control cost, time and resources.</a:t>
            </a:r>
          </a:p>
          <a:p>
            <a:pPr>
              <a:spcAft>
                <a:spcPts val="1300"/>
              </a:spcAft>
              <a:defRPr sz="1700">
                <a:solidFill>
                  <a:srgbClr val="262B34"/>
                </a:solidFill>
              </a:defRPr>
            </a:pPr>
            <a:r>
              <a:t>• Builds communication, teamwork and leadership.</a:t>
            </a:r>
          </a:p>
          <a:p>
            <a:pPr>
              <a:spcAft>
                <a:spcPts val="1300"/>
              </a:spcAft>
              <a:defRPr sz="1700">
                <a:solidFill>
                  <a:srgbClr val="262B34"/>
                </a:solidFill>
              </a:defRPr>
            </a:pPr>
            <a:r>
              <a:t>• Supports branding, networking and organizational goals.</a:t>
            </a:r>
          </a:p>
          <a:p>
            <a:pPr>
              <a:spcAft>
                <a:spcPts val="1300"/>
              </a:spcAft>
              <a:defRPr sz="1700">
                <a:solidFill>
                  <a:srgbClr val="262B34"/>
                </a:solidFill>
              </a:defRPr>
            </a:pPr>
            <a:r>
              <a:t>• A successful event is well-planned, well-coordinated and reviewed after completion.</a:t>
            </a:r>
          </a:p>
        </p:txBody>
      </p:sp>
      <p:pic>
        <p:nvPicPr>
          <p:cNvPr id="5" name="Picture 4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25880"/>
            <a:ext cx="457200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8978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5/5</a:t>
            </a:r>
          </a:p>
        </p:txBody>
      </p:sp>
    </p:spTree>
  </p:cSld>
  <p:clrMapOvr>
    <a:masterClrMapping/>
  </p:clrMapOvr>
  <p:transition advClick="0" advTm="6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