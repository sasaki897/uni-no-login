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769B4"/>
                </a:solidFill>
                <a:latin typeface="Aptos"/>
              </a:rPr>
              <a:t>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498079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1B273D"/>
                </a:solidFill>
                <a:latin typeface="Aptos"/>
              </a:rPr>
              <a:t>Marketing
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337560"/>
            <a:ext cx="6766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72D"/>
                </a:solidFill>
                <a:latin typeface="Aptos"/>
              </a:rPr>
              <a:t>How businesses understand customers,
create value, and achieve their goals.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508760"/>
            <a:ext cx="15087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0727" y="17373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769B4"/>
                </a:solidFill>
                <a:latin typeface="Aptos"/>
              </a:rPr>
              <a:t>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7" y="2075688"/>
            <a:ext cx="1280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97382"/>
                </a:solidFill>
                <a:latin typeface="Aptos"/>
              </a:rPr>
              <a:t>Understand needs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1508760"/>
            <a:ext cx="15087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93807" y="17373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769B4"/>
                </a:solidFill>
                <a:latin typeface="Aptos"/>
              </a:rPr>
              <a:t>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93807" y="2075688"/>
            <a:ext cx="1280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97382"/>
                </a:solidFill>
                <a:latin typeface="Aptos"/>
              </a:rPr>
              <a:t>Create an offer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87968" y="4709160"/>
            <a:ext cx="15087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49377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769B4"/>
                </a:solidFill>
                <a:latin typeface="Aptos"/>
              </a:rPr>
              <a:t>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5276088"/>
            <a:ext cx="1280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97382"/>
                </a:solidFill>
                <a:latin typeface="Aptos"/>
              </a:rPr>
              <a:t>Achieve goals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69B4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200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B273D"/>
                </a:solidFill>
                <a:latin typeface="Aptos"/>
              </a:rPr>
              <a:t>Understanding the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932688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382"/>
                </a:solidFill>
                <a:latin typeface="Aptos"/>
              </a:rPr>
              <a:t>A strong strategy begins with knowing the market and the customer.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74720" cy="41605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2880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769B4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828800"/>
            <a:ext cx="2450591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273D"/>
                </a:solidFill>
                <a:latin typeface="Aptos"/>
              </a:rPr>
              <a:t>Market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2834639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72D"/>
                </a:solidFill>
                <a:latin typeface="Aptos"/>
              </a:rPr>
              <a:t>• Study customer needs and behaviour
• Identify trends and opportunities
• Analyse competitors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00200"/>
            <a:ext cx="3474720" cy="41605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2880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769B4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1496" y="1828800"/>
            <a:ext cx="2450591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273D"/>
                </a:solidFill>
                <a:latin typeface="Aptos"/>
              </a:rPr>
              <a:t>Segmentation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7" y="2377440"/>
            <a:ext cx="2834639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72D"/>
                </a:solidFill>
                <a:latin typeface="Aptos"/>
              </a:rPr>
              <a:t>• Divide customers into meaningful groups
• Consider age, location, interests, income, and behaviour
• Find groups with similar needs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600200"/>
            <a:ext cx="3474720" cy="41605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82880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769B4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41664" y="1828800"/>
            <a:ext cx="2450591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273D"/>
                </a:solidFill>
                <a:latin typeface="Aptos"/>
              </a:rPr>
              <a:t>Target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377440"/>
            <a:ext cx="2834639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72D"/>
                </a:solidFill>
                <a:latin typeface="Aptos"/>
              </a:rPr>
              <a:t>• Select the customer group to serve
• Build the offer around its needs
• Focus resources where they matter most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69B4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200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B273D"/>
                </a:solidFill>
                <a:latin typeface="Aptos"/>
              </a:rPr>
              <a:t>The Marketing Mix — 4Ps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932688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382"/>
                </a:solidFill>
                <a:latin typeface="Aptos"/>
              </a:rPr>
              <a:t>The 4Ps turn a marketing strategy into practical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66360" cy="1874519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562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69B4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01368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B273D"/>
                </a:solidFill>
                <a:latin typeface="Aptos"/>
              </a:rP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258568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72D"/>
                </a:solidFill>
                <a:latin typeface="Aptos"/>
              </a:rPr>
              <a:t>What is offered?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679191"/>
            <a:ext cx="4069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382"/>
                </a:solidFill>
                <a:latin typeface="Aptos"/>
              </a:rPr>
              <a:t>Features, quality, design &amp; benefits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166360" cy="1874519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8562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69B4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801368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B273D"/>
                </a:solidFill>
                <a:latin typeface="Aptos"/>
              </a:rPr>
              <a:t>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258568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72D"/>
                </a:solidFill>
                <a:latin typeface="Aptos"/>
              </a:rPr>
              <a:t>What does it cost?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679191"/>
            <a:ext cx="4069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382"/>
                </a:solidFill>
                <a:latin typeface="Aptos"/>
              </a:rPr>
              <a:t>Pricing, discounts &amp; perceived value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86200"/>
            <a:ext cx="5166360" cy="1874519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1422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69B4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087368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B273D"/>
                </a:solidFill>
                <a:latin typeface="Aptos"/>
              </a:rPr>
              <a:t>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44568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72D"/>
                </a:solidFill>
                <a:latin typeface="Aptos"/>
              </a:rPr>
              <a:t>Where is it available?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965192"/>
            <a:ext cx="4069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382"/>
                </a:solidFill>
                <a:latin typeface="Aptos"/>
              </a:rPr>
              <a:t>Stores, websites &amp; distribution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886200"/>
            <a:ext cx="5166360" cy="1874519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59" y="41422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69B4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087368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B273D"/>
                </a:solidFill>
                <a:latin typeface="Aptos"/>
              </a:rPr>
              <a:t>PROMOTION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544568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72D"/>
                </a:solidFill>
                <a:latin typeface="Aptos"/>
              </a:rPr>
              <a:t>How is it communicated?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965192"/>
            <a:ext cx="4069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382"/>
                </a:solidFill>
                <a:latin typeface="Aptos"/>
              </a:rPr>
              <a:t>Advertising, social media &amp; sales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69B4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200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B273D"/>
                </a:solidFill>
                <a:latin typeface="Aptos"/>
              </a:rPr>
              <a:t>Promotion &amp; Customer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932688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382"/>
                </a:solidFill>
                <a:latin typeface="Aptos"/>
              </a:rPr>
              <a:t>Reaching customers is only the first step; relationships create long-term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423160" cy="31089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769B4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B273D"/>
                </a:solidFill>
                <a:latin typeface="Aptos"/>
              </a:rPr>
              <a:t>REACH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187451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72D"/>
                </a:solidFill>
                <a:latin typeface="Aptos"/>
              </a:rPr>
              <a:t>Advertising
&amp; social media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2968" y="2880360"/>
            <a:ext cx="365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769B4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1828800"/>
            <a:ext cx="2423160" cy="31089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210312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769B4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69748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B273D"/>
                </a:solidFill>
                <a:latin typeface="Aptos"/>
              </a:rPr>
              <a:t>ENGAGE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3337560"/>
            <a:ext cx="187451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72D"/>
                </a:solidFill>
                <a:latin typeface="Aptos"/>
              </a:rPr>
              <a:t>Content, offers
&amp; communication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880360"/>
            <a:ext cx="365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769B4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18504" y="1828800"/>
            <a:ext cx="2423160" cy="31089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10312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769B4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269748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B273D"/>
                </a:solidFill>
                <a:latin typeface="Aptos"/>
              </a:rPr>
              <a:t>CONVERT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337560"/>
            <a:ext cx="187451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72D"/>
                </a:solidFill>
                <a:latin typeface="Aptos"/>
              </a:rPr>
              <a:t>Purchase,
trial or sign-up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2880360"/>
            <a:ext cx="365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769B4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34856" y="1828800"/>
            <a:ext cx="2423160" cy="31089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3456" y="210312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769B4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69748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B273D"/>
                </a:solidFill>
                <a:latin typeface="Aptos"/>
              </a:rPr>
              <a:t>RETAIN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6" y="3337560"/>
            <a:ext cx="187451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72D"/>
                </a:solidFill>
                <a:latin typeface="Aptos"/>
              </a:rPr>
              <a:t>Feedback,
loyalty &amp;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623560"/>
            <a:ext cx="8321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B273D"/>
                </a:solidFill>
                <a:latin typeface="Aptos"/>
              </a:rPr>
              <a:t>Goal: build awareness → create action → develop customer loyalty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69B4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200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B273D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932688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97382"/>
                </a:solidFill>
                <a:latin typeface="Aptos"/>
              </a:rPr>
              <a:t>A marketing strategy connects business decisions with customer needs.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1B273D"/>
                </a:solidFill>
                <a:latin typeface="Aptos"/>
              </a:rPr>
              <a:t>A successful marketing strategy
creates value for both the customer and the business.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69B4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273D"/>
                </a:solidFill>
                <a:latin typeface="Aptos"/>
              </a:rPr>
              <a:t>Know the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976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382"/>
                </a:solidFill>
                <a:latin typeface="Aptos"/>
              </a:rPr>
              <a:t>Research customers, trends and competitors.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2461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69B4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70332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273D"/>
                </a:solidFill>
                <a:latin typeface="Aptos"/>
              </a:rPr>
              <a:t>Choose the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42976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382"/>
                </a:solidFill>
                <a:latin typeface="Aptos"/>
              </a:rPr>
              <a:t>Focus on customers the business can serve well.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2461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69B4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70332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273D"/>
                </a:solidFill>
                <a:latin typeface="Aptos"/>
              </a:rPr>
              <a:t>Use the 4Ps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2976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382"/>
                </a:solidFill>
                <a:latin typeface="Aptos"/>
              </a:rPr>
              <a:t>Align product, price, place and promotion.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32461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69B4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370332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273D"/>
                </a:solidFill>
                <a:latin typeface="Aptos"/>
              </a:rPr>
              <a:t>Build relationships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42976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382"/>
                </a:solidFill>
                <a:latin typeface="Aptos"/>
              </a:rPr>
              <a:t>Engage customers and encourage loyalty.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3769B4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