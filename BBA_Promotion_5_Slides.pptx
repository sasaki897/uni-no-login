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E0EFFF"/>
                </a:solidFill>
                <a:latin typeface="Aptos"/>
              </a:rPr>
              <a:t>BBA •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77724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PROMOTION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6583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0">
                <a:solidFill>
                  <a:srgbClr val="E0EFFF"/>
                </a:solidFill>
                <a:latin typeface="Aptos"/>
              </a:rPr>
              <a:t>Communicating value to the right audience</a:t>
            </a:r>
          </a:p>
        </p:txBody>
      </p:sp>
      <p:sp>
        <p:nvSpPr>
          <p:cNvPr id="6" name="Trapezoid 5"/>
          <p:cNvSpPr/>
          <p:nvPr/>
        </p:nvSpPr>
        <p:spPr>
          <a:xfrm>
            <a:off x="8549640" y="2457450"/>
            <a:ext cx="1789938" cy="925830"/>
          </a:xfrm>
          <a:prstGeom prst="trapezoid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03893" y="3259836"/>
            <a:ext cx="395020" cy="839419"/>
          </a:xfrm>
          <a:prstGeom prst="roundRect">
            <a:avLst/>
          </a:prstGeom>
          <a:solidFill>
            <a:srgbClr val="F27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92690" y="2531516"/>
            <a:ext cx="715975" cy="715975"/>
          </a:xfrm>
          <a:prstGeom prst="ellipse">
            <a:avLst/>
          </a:prstGeom>
          <a:solidFill>
            <a:srgbClr val="E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14889" y="2753715"/>
            <a:ext cx="271576" cy="271576"/>
          </a:xfrm>
          <a:prstGeom prst="ellipse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0746943" y="2519172"/>
            <a:ext cx="469087" cy="678942"/>
          </a:xfrm>
          <a:prstGeom prst="arc">
            <a:avLst/>
          </a:prstGeom>
          <a:noFill/>
          <a:ln w="25400">
            <a:solidFill>
              <a:srgbClr val="F27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993831" y="2420416"/>
            <a:ext cx="469087" cy="678942"/>
          </a:xfrm>
          <a:prstGeom prst="arc">
            <a:avLst/>
          </a:prstGeom>
          <a:noFill/>
          <a:ln w="25400">
            <a:solidFill>
              <a:srgbClr val="F27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11240719" y="2321661"/>
            <a:ext cx="469087" cy="678942"/>
          </a:xfrm>
          <a:prstGeom prst="arc">
            <a:avLst/>
          </a:prstGeom>
          <a:noFill/>
          <a:ln w="25400">
            <a:solidFill>
              <a:srgbClr val="F27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35640" y="5989320"/>
            <a:ext cx="640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E0E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75CB8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65836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0C1D3A"/>
                </a:solidFill>
                <a:latin typeface="Aptos"/>
              </a:rPr>
              <a:t>What is promotion?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6400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202630"/>
                </a:solidFill>
                <a:latin typeface="Aptos"/>
              </a:rPr>
              <a:t>Promotion is the part of marketing that communicates with customers.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66707E"/>
                </a:solidFill>
                <a:latin typeface="Aptos"/>
              </a:rPr>
              <a:t>It helps a business: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337560"/>
            <a:ext cx="384048" cy="384048"/>
          </a:xfrm>
          <a:prstGeom prst="ellipse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01568"/>
            <a:ext cx="38404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19272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C1D3A"/>
                </a:solidFill>
                <a:latin typeface="Aptos"/>
              </a:rPr>
              <a:t>Create 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319272"/>
            <a:ext cx="3749039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66707E"/>
                </a:solidFill>
                <a:latin typeface="Aptos"/>
              </a:rPr>
              <a:t>Make people notice the product.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123944"/>
            <a:ext cx="384048" cy="384048"/>
          </a:xfrm>
          <a:prstGeom prst="ellipse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38404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105656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C1D3A"/>
                </a:solidFill>
                <a:latin typeface="Aptos"/>
              </a:rPr>
              <a:t>Build interest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105656"/>
            <a:ext cx="3749039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66707E"/>
                </a:solidFill>
                <a:latin typeface="Aptos"/>
              </a:rPr>
              <a:t>Explain why it may be useful.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910328"/>
            <a:ext cx="384048" cy="384048"/>
          </a:xfrm>
          <a:prstGeom prst="ellipse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74336"/>
            <a:ext cx="38404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892040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C1D3A"/>
                </a:solidFill>
                <a:latin typeface="Aptos"/>
              </a:rPr>
              <a:t>Encourage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892040"/>
            <a:ext cx="3749039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66707E"/>
                </a:solidFill>
                <a:latin typeface="Aptos"/>
              </a:rPr>
              <a:t>Move the customer toward a response.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417320"/>
            <a:ext cx="29718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pezoid 19"/>
          <p:cNvSpPr/>
          <p:nvPr/>
        </p:nvSpPr>
        <p:spPr>
          <a:xfrm>
            <a:off x="8961120" y="2503170"/>
            <a:ext cx="1524761" cy="788669"/>
          </a:xfrm>
          <a:prstGeom prst="trapezoid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18446" y="3186684"/>
            <a:ext cx="336499" cy="715060"/>
          </a:xfrm>
          <a:prstGeom prst="roundRect">
            <a:avLst/>
          </a:prstGeom>
          <a:solidFill>
            <a:srgbClr val="F27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75570" y="2566263"/>
            <a:ext cx="609904" cy="609904"/>
          </a:xfrm>
          <a:prstGeom prst="ellipse">
            <a:avLst/>
          </a:prstGeom>
          <a:solidFill>
            <a:srgbClr val="E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64850" y="2755544"/>
            <a:ext cx="231343" cy="231343"/>
          </a:xfrm>
          <a:prstGeom prst="ellipse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rc 23"/>
          <p:cNvSpPr/>
          <p:nvPr/>
        </p:nvSpPr>
        <p:spPr>
          <a:xfrm>
            <a:off x="10832896" y="2555748"/>
            <a:ext cx="399592" cy="578358"/>
          </a:xfrm>
          <a:prstGeom prst="arc">
            <a:avLst/>
          </a:prstGeom>
          <a:noFill/>
          <a:ln w="25400">
            <a:solidFill>
              <a:srgbClr val="F27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rc 24"/>
          <p:cNvSpPr/>
          <p:nvPr/>
        </p:nvSpPr>
        <p:spPr>
          <a:xfrm>
            <a:off x="11043208" y="2471623"/>
            <a:ext cx="399592" cy="578358"/>
          </a:xfrm>
          <a:prstGeom prst="arc">
            <a:avLst/>
          </a:prstGeom>
          <a:noFill/>
          <a:ln w="25400">
            <a:solidFill>
              <a:srgbClr val="F27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c 25"/>
          <p:cNvSpPr/>
          <p:nvPr/>
        </p:nvSpPr>
        <p:spPr>
          <a:xfrm>
            <a:off x="11253520" y="2387498"/>
            <a:ext cx="399592" cy="578358"/>
          </a:xfrm>
          <a:prstGeom prst="arc">
            <a:avLst/>
          </a:prstGeom>
          <a:noFill/>
          <a:ln w="25400">
            <a:solidFill>
              <a:srgbClr val="F27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388620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27766"/>
                </a:solidFill>
                <a:latin typeface="Aptos"/>
              </a:rPr>
              <a:t>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297680"/>
            <a:ext cx="2286000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900" b="1">
                <a:solidFill>
                  <a:srgbClr val="0C1D3A"/>
                </a:solidFill>
                <a:latin typeface="Aptos"/>
              </a:rPr>
              <a:t>right person
+ right message
+ right moment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5989320"/>
            <a:ext cx="640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275CB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75CB8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59436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0C1D3A"/>
                </a:solidFill>
                <a:latin typeface="Aptos"/>
              </a:rPr>
              <a:t>The promotion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77724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66707E"/>
                </a:solidFill>
                <a:latin typeface="Aptos"/>
              </a:rPr>
              <a:t>Businesses combine different communication tools depending on their goal.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4892040" cy="1097280"/>
          </a:xfrm>
          <a:prstGeom prst="round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871216"/>
            <a:ext cx="530352" cy="530352"/>
          </a:xfrm>
          <a:prstGeom prst="ellipse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80944"/>
            <a:ext cx="53035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770632"/>
            <a:ext cx="3566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C1D3A"/>
                </a:solidFill>
                <a:latin typeface="Aptos"/>
              </a:rPr>
              <a:t>Advertising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08960"/>
            <a:ext cx="36118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6707E"/>
                </a:solidFill>
                <a:latin typeface="Aptos"/>
              </a:rPr>
              <a:t>Paid messages through media.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06040"/>
            <a:ext cx="4892040" cy="1097280"/>
          </a:xfrm>
          <a:prstGeom prst="round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871216"/>
            <a:ext cx="530352" cy="530352"/>
          </a:xfrm>
          <a:prstGeom prst="ellipse">
            <a:avLst/>
          </a:prstGeom>
          <a:solidFill>
            <a:srgbClr val="F27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980944"/>
            <a:ext cx="53035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770632"/>
            <a:ext cx="3566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C1D3A"/>
                </a:solidFill>
                <a:latin typeface="Aptos"/>
              </a:rPr>
              <a:t>Sales promotion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108960"/>
            <a:ext cx="36118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6707E"/>
                </a:solidFill>
                <a:latin typeface="Aptos"/>
              </a:rPr>
              <a:t>Short-term offers and incentives.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4892040" cy="1097280"/>
          </a:xfrm>
          <a:prstGeom prst="round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288536"/>
            <a:ext cx="530352" cy="530352"/>
          </a:xfrm>
          <a:prstGeom prst="ellipse">
            <a:avLst/>
          </a:prstGeom>
          <a:solidFill>
            <a:srgbClr val="71B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98264"/>
            <a:ext cx="53035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87952"/>
            <a:ext cx="3566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C1D3A"/>
                </a:solidFill>
                <a:latin typeface="Aptos"/>
              </a:rPr>
              <a:t>Public relations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26280"/>
            <a:ext cx="36118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6707E"/>
                </a:solidFill>
                <a:latin typeface="Aptos"/>
              </a:rPr>
              <a:t>Build reputation and relationships.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23360"/>
            <a:ext cx="4892040" cy="1097280"/>
          </a:xfrm>
          <a:prstGeom prst="round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4288536"/>
            <a:ext cx="530352" cy="530352"/>
          </a:xfrm>
          <a:prstGeom prst="ellipse">
            <a:avLst/>
          </a:prstGeom>
          <a:solidFill>
            <a:srgbClr val="0C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98264"/>
            <a:ext cx="53035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187952"/>
            <a:ext cx="3566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C1D3A"/>
                </a:solidFill>
                <a:latin typeface="Aptos"/>
              </a:rPr>
              <a:t>Personal selling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526280"/>
            <a:ext cx="36118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6707E"/>
                </a:solidFill>
                <a:latin typeface="Aptos"/>
              </a:rPr>
              <a:t>Direct interaction with customers.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5440680"/>
            <a:ext cx="2011680" cy="594360"/>
          </a:xfrm>
          <a:prstGeom prst="roundRect">
            <a:avLst/>
          </a:prstGeom>
          <a:solidFill>
            <a:srgbClr val="E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5596128"/>
            <a:ext cx="20116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275CB8"/>
                </a:solidFill>
                <a:latin typeface="Aptos"/>
              </a:rPr>
              <a:t>ONE GOAL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5989320"/>
            <a:ext cx="640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275CB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75CB8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6400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0C1D3A"/>
                </a:solidFill>
                <a:latin typeface="Aptos"/>
              </a:rPr>
              <a:t>Promotion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4572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66707E"/>
                </a:solidFill>
                <a:latin typeface="Aptos"/>
              </a:rPr>
              <a:t>Example: a new campus café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097280"/>
            <a:ext cx="306324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75320" y="1417320"/>
            <a:ext cx="2514600" cy="1325880"/>
          </a:xfrm>
          <a:prstGeom prst="roundRect">
            <a:avLst/>
          </a:prstGeom>
          <a:solidFill>
            <a:srgbClr val="0C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14884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NEW
CAMPUS CAFÉ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971800"/>
            <a:ext cx="2514600" cy="594360"/>
          </a:xfrm>
          <a:prstGeom prst="roundRect">
            <a:avLst/>
          </a:prstGeom>
          <a:solidFill>
            <a:srgbClr val="F27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163824"/>
            <a:ext cx="24231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OPENING WEEK • 20%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840480"/>
            <a:ext cx="2331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C1D3A"/>
                </a:solidFill>
                <a:latin typeface="Aptos"/>
              </a:rPr>
              <a:t>Instagram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343400"/>
            <a:ext cx="2240280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66707E"/>
                </a:solidFill>
                <a:latin typeface="Aptos"/>
              </a:rPr>
              <a:t>→ awareness
→ offer
→ visit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51176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404872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C1D3A"/>
                </a:solidFill>
                <a:latin typeface="Aptos"/>
              </a:rPr>
              <a:t>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404872"/>
            <a:ext cx="397763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02630"/>
                </a:solidFill>
                <a:latin typeface="Aptos"/>
              </a:rPr>
              <a:t>Post a simple launch announcement.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02736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456432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C1D3A"/>
                </a:solidFill>
                <a:latin typeface="Aptos"/>
              </a:rPr>
              <a:t>Incentive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456432"/>
            <a:ext cx="397763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02630"/>
                </a:solidFill>
                <a:latin typeface="Aptos"/>
              </a:rPr>
              <a:t>Offer a limited opening-week discount.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526279"/>
            <a:ext cx="457200" cy="457200"/>
          </a:xfrm>
          <a:prstGeom prst="ellipse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54295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07992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C1D3A"/>
                </a:solidFill>
                <a:latin typeface="Aptos"/>
              </a:rP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507992"/>
            <a:ext cx="3977639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02630"/>
                </a:solidFill>
                <a:latin typeface="Aptos"/>
              </a:rPr>
              <a:t>Add a clear call-to-action: “Visit today.”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5989320"/>
            <a:ext cx="640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275CB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E0EFFF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4864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57400"/>
            <a:ext cx="62179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E0EFFF"/>
                </a:solidFill>
                <a:latin typeface="Aptos"/>
              </a:rPr>
              <a:t>Promotion is not just “selling.”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94360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It is about delivering the right message,
through the right channel,
at the right time.</a:t>
            </a:r>
          </a:p>
        </p:txBody>
      </p:sp>
      <p:sp>
        <p:nvSpPr>
          <p:cNvPr id="7" name="Oval 6"/>
          <p:cNvSpPr/>
          <p:nvPr/>
        </p:nvSpPr>
        <p:spPr>
          <a:xfrm>
            <a:off x="7452360" y="2057400"/>
            <a:ext cx="868680" cy="868680"/>
          </a:xfrm>
          <a:prstGeom prst="ellipse">
            <a:avLst/>
          </a:prstGeom>
          <a:solidFill>
            <a:srgbClr val="27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3063240"/>
            <a:ext cx="1143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30428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E0EFFF"/>
                </a:solidFill>
                <a:latin typeface="Aptos"/>
              </a:rPr>
              <a:t>+</a:t>
            </a:r>
          </a:p>
        </p:txBody>
      </p:sp>
      <p:sp>
        <p:nvSpPr>
          <p:cNvPr id="10" name="Oval 9"/>
          <p:cNvSpPr/>
          <p:nvPr/>
        </p:nvSpPr>
        <p:spPr>
          <a:xfrm>
            <a:off x="8778240" y="2057400"/>
            <a:ext cx="868680" cy="868680"/>
          </a:xfrm>
          <a:prstGeom prst="ellipse">
            <a:avLst/>
          </a:prstGeom>
          <a:solidFill>
            <a:srgbClr val="F27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3063240"/>
            <a:ext cx="1143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230428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E0EFFF"/>
                </a:solidFill>
                <a:latin typeface="Aptos"/>
              </a:rPr>
              <a:t>+</a:t>
            </a:r>
          </a:p>
        </p:txBody>
      </p:sp>
      <p:sp>
        <p:nvSpPr>
          <p:cNvPr id="13" name="Oval 12"/>
          <p:cNvSpPr/>
          <p:nvPr/>
        </p:nvSpPr>
        <p:spPr>
          <a:xfrm>
            <a:off x="10104120" y="2057400"/>
            <a:ext cx="868680" cy="868680"/>
          </a:xfrm>
          <a:prstGeom prst="ellipse">
            <a:avLst/>
          </a:prstGeom>
          <a:solidFill>
            <a:srgbClr val="71B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3063240"/>
            <a:ext cx="1143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TIMING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977639"/>
            <a:ext cx="3474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251960"/>
            <a:ext cx="3474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0C1D3A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E0EFFF"/>
                </a:solidFill>
                <a:latin typeface="Aptos"/>
              </a:rPr>
              <a:t>BBA •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5989320"/>
            <a:ext cx="640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E0EFF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